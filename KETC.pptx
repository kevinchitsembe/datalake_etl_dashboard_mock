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54FC-A3BE-8860-7588-01578341E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82B6A-BCAF-B76B-C0AE-4C400507D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08C1-4BCC-DD72-5ADE-92427EDDA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2076-F952-5C17-F9F2-B5600B1C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D84D1-E139-BA75-D623-8CC569F1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9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9211-CE65-4831-978E-10B57E76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ED022-908D-B61D-23F2-9DCAE7E64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5E37F-AD99-BA66-D464-C1AE3B66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16B64-7605-AE0D-DD38-68CB3FB2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C838C-6B18-7719-F6A1-426E39BD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4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BDE4-1696-0B0F-D1FF-A40302AC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C0228-34DC-B1CE-D193-DD5656DC0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1E9A6-B7AB-7FC3-F585-83909F14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4DA2-7E24-319E-1C6A-AE8DB5B8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DB6F2-E9ED-FF59-4DC0-5B5D77A8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4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49003-AD80-9933-DE08-B924C857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8D49-8B89-8580-0DD4-09F302F89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81255-1FE0-7EAF-7302-66CDD5E39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A3132-A3BF-277C-7F5D-F94E583F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E934B-4619-1AC5-F72C-5BD01501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87FF2-10BD-CEC3-20E2-AF767B44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0111-AD2F-D4F0-C545-C6D03CE35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744A0-03F1-E511-B94C-434D8DCCE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98093-77EF-6969-349E-E75F4CEA5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C9B9E-45F2-1973-E5C6-68AF5A25F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7C8BCF-EB48-84B0-4110-284D8AC26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AA95B-F679-492F-1FFF-8682FBBD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B8CD6-D7E7-0641-0393-C2CC1BAF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7C4CA-DB8F-3750-8E68-06092582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1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5850-4664-D733-1048-F4C340D3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7F307-184D-92DF-99CD-A4005DA4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00C93-2E7B-F5B9-E08A-5A9F5749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D9436-B4D8-7119-132D-0A059E86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7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1C4D6-C1CC-A21B-BDF6-399BFD43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38F57-B819-4C16-367E-7596F4D3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95C74-5F9F-50E6-7A4A-BDFD362B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4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592A-5ADC-ED3D-63CD-6C30CBDA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5A50-0C04-E87E-23EB-DC8744135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E98CE-B04A-8D18-1C58-0B87C9CDE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00DC3-E58C-1246-A706-425A331A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E1DA0-0F30-F128-1D2A-1DD32A92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08C91-2917-46A2-0B73-A1D9318B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4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3000-0D2D-DF6A-6548-59F08A6E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B7EC4-D696-BEC7-0277-50B6A6DC7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5894E-62E3-8830-B875-DF7C1B23D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C6601-DE7D-D34B-ABB9-77E22524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992F4-D0E8-2766-B26B-79ABB366B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F4B16-C06B-C4F8-236D-58923BFE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4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BF34-FCC6-9D07-4584-550713C9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12DD5-54C6-96AC-6DFC-B040B72E0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E82DB-44DE-E125-920B-25FF4F34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6BA61-82D8-BFD5-CDB4-DAA52998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B34A2-155F-CECA-025F-E24E5D45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4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95EFA-4854-0124-E709-8339D142A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77448-3EFF-A359-FF68-736C4A21E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6D1D-BC9C-2780-B3A2-BC341A8F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14505-5506-6D46-A7EF-0B83A630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BBA4B-0145-934F-E30D-AA821320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2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54101-51FD-C41A-C8E0-F1F838B7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4ECD7-083C-09B4-75F1-3C3AE95C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9A7A7-14CE-5BCF-228D-5B14E58C4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A4FEF-1118-4DB9-BE0A-5A0667C41E4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E680B-BE8B-47BA-5B18-0C6AF5BF2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873CA-AF01-FA49-FDA5-AAD30A4D5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1E6B5-5866-41A6-8C1F-4AA51B70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0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9A6EB77-3B40-FE03-5946-1DE0B2BCF07D}"/>
              </a:ext>
            </a:extLst>
          </p:cNvPr>
          <p:cNvSpPr txBox="1"/>
          <p:nvPr/>
        </p:nvSpPr>
        <p:spPr>
          <a:xfrm>
            <a:off x="1674457" y="2804190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Data Lake</a:t>
            </a:r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3CFB6F50-5F60-1088-3D18-2670AA90935E}"/>
              </a:ext>
            </a:extLst>
          </p:cNvPr>
          <p:cNvSpPr/>
          <p:nvPr/>
        </p:nvSpPr>
        <p:spPr>
          <a:xfrm>
            <a:off x="1524737" y="2281062"/>
            <a:ext cx="1191032" cy="1370320"/>
          </a:xfrm>
          <a:prstGeom prst="flowChartMagneticDis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A56CAB-A48B-8CD8-8307-C2B8A64D3236}"/>
              </a:ext>
            </a:extLst>
          </p:cNvPr>
          <p:cNvSpPr/>
          <p:nvPr/>
        </p:nvSpPr>
        <p:spPr>
          <a:xfrm>
            <a:off x="4535424" y="2605034"/>
            <a:ext cx="2441448" cy="7223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1D217A-1402-8C59-1243-633B0F78261D}"/>
              </a:ext>
            </a:extLst>
          </p:cNvPr>
          <p:cNvSpPr txBox="1"/>
          <p:nvPr/>
        </p:nvSpPr>
        <p:spPr>
          <a:xfrm>
            <a:off x="5566032" y="2804190"/>
            <a:ext cx="3802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ETL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D86C48C-0152-EE18-D017-2D85362A5783}"/>
              </a:ext>
            </a:extLst>
          </p:cNvPr>
          <p:cNvSpPr/>
          <p:nvPr/>
        </p:nvSpPr>
        <p:spPr>
          <a:xfrm>
            <a:off x="8869680" y="2281062"/>
            <a:ext cx="2084832" cy="1370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10C37B-D237-64A2-67F1-45917AD03600}"/>
              </a:ext>
            </a:extLst>
          </p:cNvPr>
          <p:cNvSpPr txBox="1"/>
          <p:nvPr/>
        </p:nvSpPr>
        <p:spPr>
          <a:xfrm>
            <a:off x="9443057" y="2804190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Dashboard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2D797D-E68F-47DD-220A-3B62560E3191}"/>
              </a:ext>
            </a:extLst>
          </p:cNvPr>
          <p:cNvSpPr txBox="1"/>
          <p:nvPr/>
        </p:nvSpPr>
        <p:spPr>
          <a:xfrm>
            <a:off x="1161964" y="668875"/>
            <a:ext cx="244210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O </a:t>
            </a:r>
            <a:r>
              <a:rPr lang="en-US" sz="1100" dirty="0" err="1">
                <a:latin typeface="Century Gothic" panose="020B0502020202020204" pitchFamily="34" charset="0"/>
              </a:rPr>
              <a:t>cliente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carrega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</a:t>
            </a:r>
            <a:r>
              <a:rPr lang="en-US" sz="1100" dirty="0" err="1">
                <a:latin typeface="Century Gothic" panose="020B0502020202020204" pitchFamily="34" charset="0"/>
              </a:rPr>
              <a:t>em</a:t>
            </a:r>
            <a:r>
              <a:rPr lang="en-US" sz="1100" dirty="0">
                <a:latin typeface="Century Gothic" panose="020B0502020202020204" pitchFamily="34" charset="0"/>
              </a:rPr>
              <a:t> excel, </a:t>
            </a:r>
            <a:r>
              <a:rPr lang="en-US" sz="1100" dirty="0" err="1">
                <a:latin typeface="Century Gothic" panose="020B0502020202020204" pitchFamily="34" charset="0"/>
              </a:rPr>
              <a:t>cvs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ou</a:t>
            </a:r>
            <a:r>
              <a:rPr lang="en-US" sz="1100" dirty="0">
                <a:latin typeface="Century Gothic" panose="020B0502020202020204" pitchFamily="34" charset="0"/>
              </a:rPr>
              <a:t> Json para o data lake. Se </a:t>
            </a:r>
            <a:r>
              <a:rPr lang="en-US" sz="1100" dirty="0" err="1">
                <a:latin typeface="Century Gothic" panose="020B0502020202020204" pitchFamily="34" charset="0"/>
              </a:rPr>
              <a:t>possível</a:t>
            </a:r>
            <a:r>
              <a:rPr lang="en-US" sz="1100" dirty="0">
                <a:latin typeface="Century Gothic" panose="020B0502020202020204" pitchFamily="34" charset="0"/>
              </a:rPr>
              <a:t>, o </a:t>
            </a:r>
            <a:r>
              <a:rPr lang="en-US" sz="1100" dirty="0" err="1">
                <a:latin typeface="Century Gothic" panose="020B0502020202020204" pitchFamily="34" charset="0"/>
              </a:rPr>
              <a:t>nosso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sistema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puxar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</a:t>
            </a:r>
            <a:r>
              <a:rPr lang="en-US" sz="1100" dirty="0" err="1">
                <a:latin typeface="Century Gothic" panose="020B0502020202020204" pitchFamily="34" charset="0"/>
              </a:rPr>
              <a:t>directamente</a:t>
            </a:r>
            <a:r>
              <a:rPr lang="en-US" sz="1100" dirty="0">
                <a:latin typeface="Century Gothic" panose="020B0502020202020204" pitchFamily="34" charset="0"/>
              </a:rPr>
              <a:t> do Sistema deles.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F8CF2-28D8-1788-38CE-FDF37C16DABE}"/>
              </a:ext>
            </a:extLst>
          </p:cNvPr>
          <p:cNvSpPr txBox="1"/>
          <p:nvPr/>
        </p:nvSpPr>
        <p:spPr>
          <a:xfrm>
            <a:off x="1388430" y="4794209"/>
            <a:ext cx="1463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</a:t>
            </a:r>
            <a:r>
              <a:rPr lang="en-US" sz="1100" dirty="0" err="1">
                <a:latin typeface="Century Gothic" panose="020B0502020202020204" pitchFamily="34" charset="0"/>
              </a:rPr>
              <a:t>não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podem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estar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na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nuvem</a:t>
            </a:r>
            <a:r>
              <a:rPr lang="en-US" sz="1100" dirty="0">
                <a:latin typeface="Century Gothic" panose="020B0502020202020204" pitchFamily="34" charset="0"/>
              </a:rPr>
              <a:t>, </a:t>
            </a:r>
            <a:r>
              <a:rPr lang="en-US" sz="1100" dirty="0" err="1">
                <a:latin typeface="Century Gothic" panose="020B0502020202020204" pitchFamily="34" charset="0"/>
              </a:rPr>
              <a:t>ou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vamos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evitar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ao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máximo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F3D568-2EE3-CF63-C152-65196C2AC385}"/>
              </a:ext>
            </a:extLst>
          </p:cNvPr>
          <p:cNvSpPr txBox="1"/>
          <p:nvPr/>
        </p:nvSpPr>
        <p:spPr>
          <a:xfrm>
            <a:off x="2893774" y="3530591"/>
            <a:ext cx="16416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Envia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para </a:t>
            </a:r>
            <a:r>
              <a:rPr lang="en-US" sz="1100" dirty="0" err="1">
                <a:latin typeface="Century Gothic" panose="020B0502020202020204" pitchFamily="34" charset="0"/>
              </a:rPr>
              <a:t>serem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organizados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em</a:t>
            </a:r>
            <a:r>
              <a:rPr lang="en-US" sz="1100" dirty="0">
                <a:latin typeface="Century Gothic" panose="020B0502020202020204" pitchFamily="34" charset="0"/>
              </a:rPr>
              <a:t> python e </a:t>
            </a:r>
            <a:r>
              <a:rPr lang="en-US" sz="1100" dirty="0" err="1">
                <a:latin typeface="Century Gothic" panose="020B0502020202020204" pitchFamily="34" charset="0"/>
              </a:rPr>
              <a:t>sql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4318A6-3E42-E807-0FF1-FA992AFF190B}"/>
              </a:ext>
            </a:extLst>
          </p:cNvPr>
          <p:cNvSpPr txBox="1"/>
          <p:nvPr/>
        </p:nvSpPr>
        <p:spPr>
          <a:xfrm>
            <a:off x="5060902" y="4130755"/>
            <a:ext cx="1641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entury Gothic" panose="020B0502020202020204" pitchFamily="34" charset="0"/>
              </a:rPr>
              <a:t>Limpeza</a:t>
            </a:r>
            <a:r>
              <a:rPr lang="en-US" sz="1100" dirty="0">
                <a:latin typeface="Century Gothic" panose="020B0502020202020204" pitchFamily="34" charset="0"/>
              </a:rPr>
              <a:t> e </a:t>
            </a:r>
            <a:r>
              <a:rPr lang="en-US" sz="1100" dirty="0" err="1">
                <a:latin typeface="Century Gothic" panose="020B0502020202020204" pitchFamily="34" charset="0"/>
              </a:rPr>
              <a:t>criação</a:t>
            </a:r>
            <a:r>
              <a:rPr lang="en-US" sz="1100" dirty="0">
                <a:latin typeface="Century Gothic" panose="020B0502020202020204" pitchFamily="34" charset="0"/>
              </a:rPr>
              <a:t> de KPIs e </a:t>
            </a:r>
            <a:r>
              <a:rPr lang="en-US" sz="1100" dirty="0" err="1">
                <a:latin typeface="Century Gothic" panose="020B0502020202020204" pitchFamily="34" charset="0"/>
              </a:rPr>
              <a:t>Métricas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AD64E1-A585-7155-7D62-719707E9FBA6}"/>
              </a:ext>
            </a:extLst>
          </p:cNvPr>
          <p:cNvSpPr txBox="1"/>
          <p:nvPr/>
        </p:nvSpPr>
        <p:spPr>
          <a:xfrm>
            <a:off x="7228030" y="3530591"/>
            <a:ext cx="1641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Envia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</a:t>
            </a:r>
            <a:r>
              <a:rPr lang="en-US" sz="1100" dirty="0" err="1">
                <a:latin typeface="Century Gothic" panose="020B0502020202020204" pitchFamily="34" charset="0"/>
              </a:rPr>
              <a:t>finais</a:t>
            </a:r>
            <a:r>
              <a:rPr lang="en-US" sz="1100" dirty="0">
                <a:latin typeface="Century Gothic" panose="020B0502020202020204" pitchFamily="34" charset="0"/>
              </a:rPr>
              <a:t> para o dashboard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FBB758-4DEE-B8C1-48E1-B109B202ACE7}"/>
              </a:ext>
            </a:extLst>
          </p:cNvPr>
          <p:cNvSpPr txBox="1"/>
          <p:nvPr/>
        </p:nvSpPr>
        <p:spPr>
          <a:xfrm>
            <a:off x="9091270" y="769437"/>
            <a:ext cx="1641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entury Gothic" panose="020B0502020202020204" pitchFamily="34" charset="0"/>
              </a:rPr>
              <a:t>Fica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hospedado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na</a:t>
            </a:r>
            <a:r>
              <a:rPr lang="en-US" sz="1100" dirty="0">
                <a:latin typeface="Century Gothic" panose="020B0502020202020204" pitchFamily="34" charset="0"/>
              </a:rPr>
              <a:t> Net </a:t>
            </a:r>
            <a:r>
              <a:rPr lang="en-US" sz="1100" dirty="0" err="1">
                <a:latin typeface="Century Gothic" panose="020B0502020202020204" pitchFamily="34" charset="0"/>
              </a:rPr>
              <a:t>ou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localmente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DE8F7B-BB18-2063-0794-79477F384A6A}"/>
              </a:ext>
            </a:extLst>
          </p:cNvPr>
          <p:cNvCxnSpPr>
            <a:stCxn id="13" idx="4"/>
            <a:endCxn id="17" idx="1"/>
          </p:cNvCxnSpPr>
          <p:nvPr/>
        </p:nvCxnSpPr>
        <p:spPr>
          <a:xfrm>
            <a:off x="2715769" y="2966222"/>
            <a:ext cx="18196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88CB6B-368A-41F7-0BA8-C20E84CF2EB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976872" y="2966222"/>
            <a:ext cx="18928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9756AF73-2172-D6F5-8026-C004F632A8A7}"/>
              </a:ext>
            </a:extLst>
          </p:cNvPr>
          <p:cNvSpPr/>
          <p:nvPr/>
        </p:nvSpPr>
        <p:spPr>
          <a:xfrm>
            <a:off x="2051305" y="1690274"/>
            <a:ext cx="128016" cy="52833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B0E554D4-D72A-1ED0-07FA-46895DB0A1B3}"/>
              </a:ext>
            </a:extLst>
          </p:cNvPr>
          <p:cNvSpPr/>
          <p:nvPr/>
        </p:nvSpPr>
        <p:spPr>
          <a:xfrm>
            <a:off x="2029968" y="3888587"/>
            <a:ext cx="128016" cy="64008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F408A612-8F06-F09A-DF71-C3D61645BC77}"/>
              </a:ext>
            </a:extLst>
          </p:cNvPr>
          <p:cNvSpPr/>
          <p:nvPr/>
        </p:nvSpPr>
        <p:spPr>
          <a:xfrm rot="10800000">
            <a:off x="9848087" y="1448085"/>
            <a:ext cx="128016" cy="64008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C20EF60-E2A6-E0EB-8EDA-56EFB62FB995}"/>
              </a:ext>
            </a:extLst>
          </p:cNvPr>
          <p:cNvSpPr/>
          <p:nvPr/>
        </p:nvSpPr>
        <p:spPr>
          <a:xfrm rot="10800000">
            <a:off x="5728716" y="3463243"/>
            <a:ext cx="128016" cy="64008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E51C4AD7-B73B-8A99-0538-34933C4C0C16}"/>
              </a:ext>
            </a:extLst>
          </p:cNvPr>
          <p:cNvSpPr/>
          <p:nvPr/>
        </p:nvSpPr>
        <p:spPr>
          <a:xfrm rot="10800000">
            <a:off x="3487861" y="3037888"/>
            <a:ext cx="116208" cy="541829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7168A246-DCD0-3562-7B64-8F2AD4DB5657}"/>
              </a:ext>
            </a:extLst>
          </p:cNvPr>
          <p:cNvSpPr/>
          <p:nvPr/>
        </p:nvSpPr>
        <p:spPr>
          <a:xfrm rot="10800000">
            <a:off x="7885822" y="3037362"/>
            <a:ext cx="116208" cy="541829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64853B-4D42-92B2-C5B4-F5C88A685E25}"/>
              </a:ext>
            </a:extLst>
          </p:cNvPr>
          <p:cNvSpPr/>
          <p:nvPr/>
        </p:nvSpPr>
        <p:spPr>
          <a:xfrm>
            <a:off x="896112" y="502920"/>
            <a:ext cx="10588752" cy="5312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322681-B08E-E025-9AF4-4AE6DF988A10}"/>
              </a:ext>
            </a:extLst>
          </p:cNvPr>
          <p:cNvSpPr txBox="1"/>
          <p:nvPr/>
        </p:nvSpPr>
        <p:spPr>
          <a:xfrm>
            <a:off x="4964649" y="116860"/>
            <a:ext cx="18341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Century Gothic" panose="020B0502020202020204" pitchFamily="34" charset="0"/>
              </a:rPr>
              <a:t>Processo</a:t>
            </a:r>
            <a:r>
              <a:rPr lang="en-US" sz="1100" b="1" dirty="0">
                <a:latin typeface="Century Gothic" panose="020B0502020202020204" pitchFamily="34" charset="0"/>
              </a:rPr>
              <a:t> </a:t>
            </a:r>
            <a:r>
              <a:rPr lang="en-US" sz="1100" b="1" dirty="0" err="1">
                <a:latin typeface="Century Gothic" panose="020B0502020202020204" pitchFamily="34" charset="0"/>
              </a:rPr>
              <a:t>Automatizado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33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F0C4-3C23-1A38-7224-5802BDEE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76312B7-AA76-4854-8D99-FFFD690BA332}"/>
              </a:ext>
            </a:extLst>
          </p:cNvPr>
          <p:cNvSpPr txBox="1"/>
          <p:nvPr/>
        </p:nvSpPr>
        <p:spPr>
          <a:xfrm>
            <a:off x="586354" y="1961567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Data Lake</a:t>
            </a:r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E3C859A1-D426-3B38-52F8-7C7B692AD9AA}"/>
              </a:ext>
            </a:extLst>
          </p:cNvPr>
          <p:cNvSpPr/>
          <p:nvPr/>
        </p:nvSpPr>
        <p:spPr>
          <a:xfrm>
            <a:off x="5308003" y="2254041"/>
            <a:ext cx="1191032" cy="1370320"/>
          </a:xfrm>
          <a:prstGeom prst="flowChartMagneticDis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30FC89-CA0F-F0A6-BF99-35C2D67BE601}"/>
              </a:ext>
            </a:extLst>
          </p:cNvPr>
          <p:cNvSpPr/>
          <p:nvPr/>
        </p:nvSpPr>
        <p:spPr>
          <a:xfrm>
            <a:off x="2625146" y="2585499"/>
            <a:ext cx="1908047" cy="7223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10DFB-98C2-A1F9-ACB4-50095A2412BE}"/>
              </a:ext>
            </a:extLst>
          </p:cNvPr>
          <p:cNvSpPr txBox="1"/>
          <p:nvPr/>
        </p:nvSpPr>
        <p:spPr>
          <a:xfrm>
            <a:off x="3389053" y="2256497"/>
            <a:ext cx="3802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ETL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676D89-C8BE-69D2-EF90-3BB4A1411ECB}"/>
              </a:ext>
            </a:extLst>
          </p:cNvPr>
          <p:cNvSpPr/>
          <p:nvPr/>
        </p:nvSpPr>
        <p:spPr>
          <a:xfrm>
            <a:off x="7360919" y="3651382"/>
            <a:ext cx="2084832" cy="1370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5B871-C1CF-6354-49CD-A980A865D824}"/>
              </a:ext>
            </a:extLst>
          </p:cNvPr>
          <p:cNvSpPr txBox="1"/>
          <p:nvPr/>
        </p:nvSpPr>
        <p:spPr>
          <a:xfrm>
            <a:off x="7759568" y="4205737"/>
            <a:ext cx="1287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Dashboard Web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53EDB4-7C47-CA39-35D0-638177BBBFC6}"/>
              </a:ext>
            </a:extLst>
          </p:cNvPr>
          <p:cNvSpPr txBox="1"/>
          <p:nvPr/>
        </p:nvSpPr>
        <p:spPr>
          <a:xfrm>
            <a:off x="1343086" y="3961807"/>
            <a:ext cx="1925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entury Gothic" panose="020B0502020202020204" pitchFamily="34" charset="0"/>
              </a:rPr>
              <a:t>Extrai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do portal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D84712C1-4FB2-FAD6-CA81-1B65C9B05049}"/>
              </a:ext>
            </a:extLst>
          </p:cNvPr>
          <p:cNvSpPr/>
          <p:nvPr/>
        </p:nvSpPr>
        <p:spPr>
          <a:xfrm>
            <a:off x="968139" y="1179938"/>
            <a:ext cx="128016" cy="64008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1DF5DE-7FFA-33DE-CFDF-08992CA67A15}"/>
              </a:ext>
            </a:extLst>
          </p:cNvPr>
          <p:cNvSpPr txBox="1"/>
          <p:nvPr/>
        </p:nvSpPr>
        <p:spPr>
          <a:xfrm>
            <a:off x="4964649" y="116860"/>
            <a:ext cx="18341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Century Gothic" panose="020B0502020202020204" pitchFamily="34" charset="0"/>
              </a:rPr>
              <a:t>Processo</a:t>
            </a:r>
            <a:r>
              <a:rPr lang="en-US" sz="1100" b="1" dirty="0">
                <a:latin typeface="Century Gothic" panose="020B0502020202020204" pitchFamily="34" charset="0"/>
              </a:rPr>
              <a:t> </a:t>
            </a:r>
            <a:r>
              <a:rPr lang="en-US" sz="1100" b="1" dirty="0" err="1">
                <a:latin typeface="Century Gothic" panose="020B0502020202020204" pitchFamily="34" charset="0"/>
              </a:rPr>
              <a:t>Automatizado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F6227-2841-B3B9-A6B9-60A987974486}"/>
              </a:ext>
            </a:extLst>
          </p:cNvPr>
          <p:cNvSpPr/>
          <p:nvPr/>
        </p:nvSpPr>
        <p:spPr>
          <a:xfrm>
            <a:off x="213964" y="2285268"/>
            <a:ext cx="1636372" cy="1370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2908C-9E63-2055-A2B1-3630148DAE3F}"/>
              </a:ext>
            </a:extLst>
          </p:cNvPr>
          <p:cNvSpPr txBox="1"/>
          <p:nvPr/>
        </p:nvSpPr>
        <p:spPr>
          <a:xfrm>
            <a:off x="574331" y="2808396"/>
            <a:ext cx="9156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Portal Web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980D2-CF76-B471-C40A-998D06C6A7DA}"/>
              </a:ext>
            </a:extLst>
          </p:cNvPr>
          <p:cNvSpPr txBox="1"/>
          <p:nvPr/>
        </p:nvSpPr>
        <p:spPr>
          <a:xfrm>
            <a:off x="3029980" y="2784655"/>
            <a:ext cx="10983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Python Cloud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E0771-91F9-8333-BB53-E2948D3DAFAA}"/>
              </a:ext>
            </a:extLst>
          </p:cNvPr>
          <p:cNvSpPr txBox="1"/>
          <p:nvPr/>
        </p:nvSpPr>
        <p:spPr>
          <a:xfrm>
            <a:off x="5277736" y="2903813"/>
            <a:ext cx="1251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Century Gothic" panose="020B0502020202020204" pitchFamily="34" charset="0"/>
              </a:rPr>
              <a:t>Base de Dados Cloud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69E828-CBA4-BBDE-5D72-D2A2C37D8150}"/>
              </a:ext>
            </a:extLst>
          </p:cNvPr>
          <p:cNvSpPr/>
          <p:nvPr/>
        </p:nvSpPr>
        <p:spPr>
          <a:xfrm>
            <a:off x="7360919" y="1244168"/>
            <a:ext cx="2084832" cy="7223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F285E-7D3F-9FDD-6D5D-B224BCB26CA2}"/>
              </a:ext>
            </a:extLst>
          </p:cNvPr>
          <p:cNvSpPr txBox="1"/>
          <p:nvPr/>
        </p:nvSpPr>
        <p:spPr>
          <a:xfrm>
            <a:off x="7527934" y="1448085"/>
            <a:ext cx="17508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</a:rPr>
              <a:t>Motor de </a:t>
            </a:r>
            <a:r>
              <a:rPr lang="en-US" sz="1100" b="1" dirty="0" err="1">
                <a:latin typeface="Century Gothic" panose="020B0502020202020204" pitchFamily="34" charset="0"/>
              </a:rPr>
              <a:t>alertas</a:t>
            </a:r>
            <a:r>
              <a:rPr lang="en-US" sz="1100" b="1" dirty="0">
                <a:latin typeface="Century Gothic" panose="020B0502020202020204" pitchFamily="34" charset="0"/>
              </a:rPr>
              <a:t> Cloud</a:t>
            </a:r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05DDA9C3-AC75-5B37-2D7F-0B556E605A1C}"/>
              </a:ext>
            </a:extLst>
          </p:cNvPr>
          <p:cNvSpPr/>
          <p:nvPr/>
        </p:nvSpPr>
        <p:spPr>
          <a:xfrm>
            <a:off x="10771509" y="2513267"/>
            <a:ext cx="1014984" cy="915733"/>
          </a:xfrm>
          <a:prstGeom prst="smileyFace">
            <a:avLst>
              <a:gd name="adj" fmla="val 46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CD730-D8A3-5504-8CD3-427425989057}"/>
              </a:ext>
            </a:extLst>
          </p:cNvPr>
          <p:cNvSpPr txBox="1"/>
          <p:nvPr/>
        </p:nvSpPr>
        <p:spPr>
          <a:xfrm>
            <a:off x="10102736" y="2857646"/>
            <a:ext cx="6687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err="1">
                <a:latin typeface="Century Gothic" panose="020B0502020202020204" pitchFamily="34" charset="0"/>
              </a:rPr>
              <a:t>Cliente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621B0-5D5F-8087-41B0-99A9BDCAA618}"/>
              </a:ext>
            </a:extLst>
          </p:cNvPr>
          <p:cNvSpPr txBox="1"/>
          <p:nvPr/>
        </p:nvSpPr>
        <p:spPr>
          <a:xfrm>
            <a:off x="173933" y="607502"/>
            <a:ext cx="17164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O </a:t>
            </a:r>
            <a:r>
              <a:rPr lang="en-US" sz="1100" dirty="0" err="1">
                <a:latin typeface="Century Gothic" panose="020B0502020202020204" pitchFamily="34" charset="0"/>
              </a:rPr>
              <a:t>cliente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carrega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</a:t>
            </a:r>
            <a:r>
              <a:rPr lang="en-US" sz="1100" dirty="0" err="1">
                <a:latin typeface="Century Gothic" panose="020B0502020202020204" pitchFamily="34" charset="0"/>
              </a:rPr>
              <a:t>em</a:t>
            </a:r>
            <a:r>
              <a:rPr lang="en-US" sz="1100" dirty="0">
                <a:latin typeface="Century Gothic" panose="020B0502020202020204" pitchFamily="34" charset="0"/>
              </a:rPr>
              <a:t> excel/csv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0C2E1-4CA4-4362-2E18-D95BD98F8AB0}"/>
              </a:ext>
            </a:extLst>
          </p:cNvPr>
          <p:cNvSpPr txBox="1"/>
          <p:nvPr/>
        </p:nvSpPr>
        <p:spPr>
          <a:xfrm>
            <a:off x="2761911" y="879856"/>
            <a:ext cx="17164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Valida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ficheiros</a:t>
            </a:r>
            <a:r>
              <a:rPr lang="en-US" sz="1100" dirty="0">
                <a:latin typeface="Century Gothic" panose="020B0502020202020204" pitchFamily="34" charset="0"/>
              </a:rPr>
              <a:t>, limpa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e </a:t>
            </a:r>
            <a:r>
              <a:rPr lang="en-US" sz="1100" dirty="0" err="1">
                <a:latin typeface="Century Gothic" panose="020B0502020202020204" pitchFamily="34" charset="0"/>
              </a:rPr>
              <a:t>cria</a:t>
            </a:r>
            <a:r>
              <a:rPr lang="en-US" sz="1100" dirty="0">
                <a:latin typeface="Century Gothic" panose="020B0502020202020204" pitchFamily="34" charset="0"/>
              </a:rPr>
              <a:t> KPIs e </a:t>
            </a:r>
            <a:r>
              <a:rPr lang="en-US" sz="1100" dirty="0" err="1">
                <a:latin typeface="Century Gothic" panose="020B0502020202020204" pitchFamily="34" charset="0"/>
              </a:rPr>
              <a:t>Métricas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6863074-C58A-ABF5-A83C-B556B9FBC26F}"/>
              </a:ext>
            </a:extLst>
          </p:cNvPr>
          <p:cNvSpPr/>
          <p:nvPr/>
        </p:nvSpPr>
        <p:spPr>
          <a:xfrm>
            <a:off x="3515161" y="1530237"/>
            <a:ext cx="128016" cy="64008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B6492B3-7A75-6334-963E-041BE722DA55}"/>
              </a:ext>
            </a:extLst>
          </p:cNvPr>
          <p:cNvCxnSpPr>
            <a:stCxn id="17" idx="2"/>
            <a:endCxn id="3" idx="2"/>
          </p:cNvCxnSpPr>
          <p:nvPr/>
        </p:nvCxnSpPr>
        <p:spPr>
          <a:xfrm rot="5400000">
            <a:off x="2131804" y="2208221"/>
            <a:ext cx="347713" cy="2547020"/>
          </a:xfrm>
          <a:prstGeom prst="bentConnector3">
            <a:avLst>
              <a:gd name="adj1" fmla="val 1657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7DA221-6415-6EA2-84AD-9949893F8356}"/>
              </a:ext>
            </a:extLst>
          </p:cNvPr>
          <p:cNvCxnSpPr>
            <a:stCxn id="17" idx="3"/>
            <a:endCxn id="13" idx="2"/>
          </p:cNvCxnSpPr>
          <p:nvPr/>
        </p:nvCxnSpPr>
        <p:spPr>
          <a:xfrm flipV="1">
            <a:off x="4533193" y="2939201"/>
            <a:ext cx="774810" cy="74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A71F96A-B539-9847-5310-411FBDC17F65}"/>
              </a:ext>
            </a:extLst>
          </p:cNvPr>
          <p:cNvSpPr txBox="1"/>
          <p:nvPr/>
        </p:nvSpPr>
        <p:spPr>
          <a:xfrm>
            <a:off x="4182411" y="3867184"/>
            <a:ext cx="1343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Envia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ficheiros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finais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limpos</a:t>
            </a:r>
            <a:r>
              <a:rPr lang="en-US" sz="1100" dirty="0">
                <a:latin typeface="Century Gothic" panose="020B0502020202020204" pitchFamily="34" charset="0"/>
              </a:rPr>
              <a:t>, com as </a:t>
            </a:r>
            <a:r>
              <a:rPr lang="en-US" sz="1100" dirty="0" err="1">
                <a:latin typeface="Century Gothic" panose="020B0502020202020204" pitchFamily="34" charset="0"/>
              </a:rPr>
              <a:t>métricas</a:t>
            </a:r>
            <a:r>
              <a:rPr lang="en-US" sz="1100" dirty="0">
                <a:latin typeface="Century Gothic" panose="020B0502020202020204" pitchFamily="34" charset="0"/>
              </a:rPr>
              <a:t> e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KPIs</a:t>
            </a: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9AE2F156-9F06-2510-81F7-7E17A33B6D8F}"/>
              </a:ext>
            </a:extLst>
          </p:cNvPr>
          <p:cNvSpPr/>
          <p:nvPr/>
        </p:nvSpPr>
        <p:spPr>
          <a:xfrm rot="10800000">
            <a:off x="4854378" y="3086895"/>
            <a:ext cx="128016" cy="64008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D34A58D-D8FF-9282-172C-58C28D1C3B80}"/>
              </a:ext>
            </a:extLst>
          </p:cNvPr>
          <p:cNvCxnSpPr>
            <a:stCxn id="8" idx="1"/>
            <a:endCxn id="13" idx="1"/>
          </p:cNvCxnSpPr>
          <p:nvPr/>
        </p:nvCxnSpPr>
        <p:spPr>
          <a:xfrm rot="10800000" flipV="1">
            <a:off x="5903519" y="1605355"/>
            <a:ext cx="1457400" cy="6486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1E6CE1E-C5B4-70C3-C3F6-FB93C0E90B3C}"/>
              </a:ext>
            </a:extLst>
          </p:cNvPr>
          <p:cNvSpPr txBox="1"/>
          <p:nvPr/>
        </p:nvSpPr>
        <p:spPr>
          <a:xfrm>
            <a:off x="5811505" y="955206"/>
            <a:ext cx="17164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entury Gothic" panose="020B0502020202020204" pitchFamily="34" charset="0"/>
              </a:rPr>
              <a:t>Extrai</a:t>
            </a:r>
            <a:r>
              <a:rPr lang="en-US" sz="1100" dirty="0">
                <a:latin typeface="Century Gothic" panose="020B0502020202020204" pitchFamily="34" charset="0"/>
              </a:rPr>
              <a:t> a </a:t>
            </a:r>
            <a:r>
              <a:rPr lang="en-US" sz="1100" dirty="0" err="1">
                <a:latin typeface="Century Gothic" panose="020B0502020202020204" pitchFamily="34" charset="0"/>
              </a:rPr>
              <a:t>informação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mais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relevante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naquele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momento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6448EEAA-FD82-3D96-6AE9-75BE1CB33090}"/>
              </a:ext>
            </a:extLst>
          </p:cNvPr>
          <p:cNvCxnSpPr>
            <a:stCxn id="19" idx="1"/>
            <a:endCxn id="13" idx="3"/>
          </p:cNvCxnSpPr>
          <p:nvPr/>
        </p:nvCxnSpPr>
        <p:spPr>
          <a:xfrm rot="10800000">
            <a:off x="5903519" y="3624362"/>
            <a:ext cx="1457400" cy="7121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35A538F-03D3-15BF-5334-236595C12082}"/>
              </a:ext>
            </a:extLst>
          </p:cNvPr>
          <p:cNvSpPr txBox="1"/>
          <p:nvPr/>
        </p:nvSpPr>
        <p:spPr>
          <a:xfrm>
            <a:off x="5903518" y="4348496"/>
            <a:ext cx="1457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Century Gothic" panose="020B0502020202020204" pitchFamily="34" charset="0"/>
              </a:rPr>
              <a:t>Extrai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os</a:t>
            </a:r>
            <a:r>
              <a:rPr lang="en-US" sz="1100" dirty="0">
                <a:latin typeface="Century Gothic" panose="020B0502020202020204" pitchFamily="34" charset="0"/>
              </a:rPr>
              <a:t> dados e </a:t>
            </a:r>
            <a:r>
              <a:rPr lang="en-US" sz="1100" dirty="0" err="1">
                <a:latin typeface="Century Gothic" panose="020B0502020202020204" pitchFamily="34" charset="0"/>
              </a:rPr>
              <a:t>actualiza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268368D-94A5-D043-8490-978CF60A6F84}"/>
              </a:ext>
            </a:extLst>
          </p:cNvPr>
          <p:cNvCxnSpPr>
            <a:stCxn id="8" idx="3"/>
            <a:endCxn id="10" idx="0"/>
          </p:cNvCxnSpPr>
          <p:nvPr/>
        </p:nvCxnSpPr>
        <p:spPr>
          <a:xfrm>
            <a:off x="9445751" y="1605356"/>
            <a:ext cx="1833250" cy="90791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C60A52E9-A9B9-D6F1-F11B-920D7F404A99}"/>
              </a:ext>
            </a:extLst>
          </p:cNvPr>
          <p:cNvCxnSpPr>
            <a:stCxn id="10" idx="4"/>
            <a:endCxn id="19" idx="3"/>
          </p:cNvCxnSpPr>
          <p:nvPr/>
        </p:nvCxnSpPr>
        <p:spPr>
          <a:xfrm rot="5400000">
            <a:off x="9908605" y="2966146"/>
            <a:ext cx="907542" cy="183325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783A21B-C89E-7622-88A3-D761B52CD7E5}"/>
              </a:ext>
            </a:extLst>
          </p:cNvPr>
          <p:cNvSpPr txBox="1"/>
          <p:nvPr/>
        </p:nvSpPr>
        <p:spPr>
          <a:xfrm>
            <a:off x="9478213" y="859447"/>
            <a:ext cx="19178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Envia um </a:t>
            </a:r>
            <a:r>
              <a:rPr lang="en-US" sz="1100" dirty="0" err="1">
                <a:latin typeface="Century Gothic" panose="020B0502020202020204" pitchFamily="34" charset="0"/>
              </a:rPr>
              <a:t>alerta</a:t>
            </a:r>
            <a:r>
              <a:rPr lang="en-US" sz="1100" dirty="0">
                <a:latin typeface="Century Gothic" panose="020B0502020202020204" pitchFamily="34" charset="0"/>
              </a:rPr>
              <a:t> para o </a:t>
            </a:r>
            <a:r>
              <a:rPr lang="en-US" sz="1100" dirty="0" err="1">
                <a:latin typeface="Century Gothic" panose="020B0502020202020204" pitchFamily="34" charset="0"/>
              </a:rPr>
              <a:t>Whatsapp</a:t>
            </a:r>
            <a:r>
              <a:rPr lang="en-US" sz="1100" dirty="0">
                <a:latin typeface="Century Gothic" panose="020B0502020202020204" pitchFamily="34" charset="0"/>
              </a:rPr>
              <a:t>/Email do </a:t>
            </a:r>
            <a:r>
              <a:rPr lang="en-US" sz="1100" dirty="0" err="1">
                <a:latin typeface="Century Gothic" panose="020B0502020202020204" pitchFamily="34" charset="0"/>
              </a:rPr>
              <a:t>Cliente</a:t>
            </a:r>
            <a:r>
              <a:rPr lang="en-US" sz="1100" dirty="0">
                <a:latin typeface="Century Gothic" panose="020B0502020202020204" pitchFamily="34" charset="0"/>
              </a:rPr>
              <a:t> (ex: o </a:t>
            </a:r>
            <a:r>
              <a:rPr lang="en-US" sz="1100" dirty="0" err="1">
                <a:latin typeface="Century Gothic" panose="020B0502020202020204" pitchFamily="34" charset="0"/>
              </a:rPr>
              <a:t>produto</a:t>
            </a:r>
            <a:r>
              <a:rPr lang="en-US" sz="1100" dirty="0">
                <a:latin typeface="Century Gothic" panose="020B0502020202020204" pitchFamily="34" charset="0"/>
              </a:rPr>
              <a:t> X </a:t>
            </a:r>
            <a:r>
              <a:rPr lang="en-US" sz="1100" dirty="0" err="1">
                <a:latin typeface="Century Gothic" panose="020B0502020202020204" pitchFamily="34" charset="0"/>
              </a:rPr>
              <a:t>vai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expirar</a:t>
            </a:r>
            <a:r>
              <a:rPr lang="en-US" sz="1100" dirty="0">
                <a:latin typeface="Century Gothic" panose="020B0502020202020204" pitchFamily="34" charset="0"/>
              </a:rPr>
              <a:t> no </a:t>
            </a:r>
            <a:r>
              <a:rPr lang="en-US" sz="1100" dirty="0" err="1">
                <a:latin typeface="Century Gothic" panose="020B0502020202020204" pitchFamily="34" charset="0"/>
              </a:rPr>
              <a:t>dia</a:t>
            </a:r>
            <a:r>
              <a:rPr lang="en-US" sz="1100" dirty="0">
                <a:latin typeface="Century Gothic" panose="020B0502020202020204" pitchFamily="34" charset="0"/>
              </a:rPr>
              <a:t> XX)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A94CE7-4821-E47E-4739-F849A33D6D1A}"/>
              </a:ext>
            </a:extLst>
          </p:cNvPr>
          <p:cNvSpPr txBox="1"/>
          <p:nvPr/>
        </p:nvSpPr>
        <p:spPr>
          <a:xfrm>
            <a:off x="9478213" y="4350782"/>
            <a:ext cx="19178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O </a:t>
            </a:r>
            <a:r>
              <a:rPr lang="en-US" sz="1100" dirty="0" err="1">
                <a:latin typeface="Century Gothic" panose="020B0502020202020204" pitchFamily="34" charset="0"/>
              </a:rPr>
              <a:t>Cliente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acede</a:t>
            </a:r>
            <a:r>
              <a:rPr lang="en-US" sz="1100" dirty="0">
                <a:latin typeface="Century Gothic" panose="020B0502020202020204" pitchFamily="34" charset="0"/>
              </a:rPr>
              <a:t> </a:t>
            </a:r>
            <a:r>
              <a:rPr lang="en-US" sz="1100" dirty="0" err="1">
                <a:latin typeface="Century Gothic" panose="020B0502020202020204" pitchFamily="34" charset="0"/>
              </a:rPr>
              <a:t>ao</a:t>
            </a:r>
            <a:r>
              <a:rPr lang="en-US" sz="1100" dirty="0">
                <a:latin typeface="Century Gothic" panose="020B0502020202020204" pitchFamily="34" charset="0"/>
              </a:rPr>
              <a:t> Link para </a:t>
            </a:r>
            <a:r>
              <a:rPr lang="en-US" sz="1100" dirty="0" err="1">
                <a:latin typeface="Century Gothic" panose="020B0502020202020204" pitchFamily="34" charset="0"/>
              </a:rPr>
              <a:t>ver</a:t>
            </a:r>
            <a:r>
              <a:rPr lang="en-US" sz="1100" dirty="0">
                <a:latin typeface="Century Gothic" panose="020B0502020202020204" pitchFamily="34" charset="0"/>
              </a:rPr>
              <a:t> o dashboard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4A7B635-9162-E91A-1A55-61F2BA79E090}"/>
              </a:ext>
            </a:extLst>
          </p:cNvPr>
          <p:cNvSpPr/>
          <p:nvPr/>
        </p:nvSpPr>
        <p:spPr>
          <a:xfrm>
            <a:off x="65727" y="590130"/>
            <a:ext cx="12031785" cy="4737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76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4321</TotalTime>
  <Words>180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Chitsembe</dc:creator>
  <cp:lastModifiedBy>Kevin Chitsembe</cp:lastModifiedBy>
  <cp:revision>1</cp:revision>
  <dcterms:created xsi:type="dcterms:W3CDTF">2026-08-25T09:25:59Z</dcterms:created>
  <dcterms:modified xsi:type="dcterms:W3CDTF">2026-08-28T09:27:04Z</dcterms:modified>
</cp:coreProperties>
</file>